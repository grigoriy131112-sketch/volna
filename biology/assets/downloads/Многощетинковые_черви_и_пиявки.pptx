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Дождевой червь — знакомый нам кольчатый червь. А где ещё в природе живут кольчатые черви?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Кто из вас видел пиявку? Где это было — в пруду, в речке, в озере?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Почему многощетинковые черви живут в море, а не в почве, как дождевой червь?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Зачем червю на каждом сегменте параподии со щетинками — что они делают?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Чем развитие с личинкой отличается от прямого развития, как у дождевого червя?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Пиявка — это всегда паразит, который пьёт кровь, или бывает иначе?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Почему одной присоски, как у осьминога, пиявке было бы недостаточно?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Пиявка вводит гирудин, чтобы кровь не сворачивалась. Почему же тогда она не истекает кровью сама?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Кто такие гермафродиты? Вспомните, у кого из знакомых животных так же.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Найдите главное отличие: как по строению отличить полихету от пиявки?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Какой из трёх фактов про полихет удивил вас больше всего и почему?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Почему пиявку называют «живым индикатором» чистой воды?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212080"/>
            <a:ext cx="12191695" cy="1645920"/>
          </a:xfrm>
          <a:prstGeom prst="rect">
            <a:avLst/>
          </a:prstGeom>
          <a:solidFill>
            <a:srgbClr val="11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12080"/>
            <a:ext cx="12191695" cy="82296"/>
          </a:xfrm>
          <a:prstGeom prst="rect">
            <a:avLst/>
          </a:prstGeom>
          <a:solidFill>
            <a:srgbClr val="179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623560"/>
            <a:ext cx="685800" cy="685800"/>
          </a:xfrm>
          <a:prstGeom prst="ellipse">
            <a:avLst/>
          </a:prstGeom>
          <a:solidFill>
            <a:srgbClr val="5FC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91639" y="5623560"/>
            <a:ext cx="685800" cy="685800"/>
          </a:xfrm>
          <a:prstGeom prst="ellipse">
            <a:avLst/>
          </a:prstGeom>
          <a:solidFill>
            <a:srgbClr val="5FC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0" y="5623560"/>
            <a:ext cx="685800" cy="685800"/>
          </a:xfrm>
          <a:prstGeom prst="ellipse">
            <a:avLst/>
          </a:prstGeom>
          <a:solidFill>
            <a:srgbClr val="5FC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794759" y="5623560"/>
            <a:ext cx="685800" cy="685800"/>
          </a:xfrm>
          <a:prstGeom prst="ellipse">
            <a:avLst/>
          </a:prstGeom>
          <a:solidFill>
            <a:srgbClr val="5FC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846320" y="5623560"/>
            <a:ext cx="685800" cy="685800"/>
          </a:xfrm>
          <a:prstGeom prst="ellipse">
            <a:avLst/>
          </a:prstGeom>
          <a:solidFill>
            <a:srgbClr val="5FC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897880" y="5623560"/>
            <a:ext cx="685800" cy="685800"/>
          </a:xfrm>
          <a:prstGeom prst="ellipse">
            <a:avLst/>
          </a:prstGeom>
          <a:solidFill>
            <a:srgbClr val="5FC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949440" y="5623560"/>
            <a:ext cx="685800" cy="685800"/>
          </a:xfrm>
          <a:prstGeom prst="ellipse">
            <a:avLst/>
          </a:prstGeom>
          <a:solidFill>
            <a:srgbClr val="5FC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00999" y="5623560"/>
            <a:ext cx="685800" cy="685800"/>
          </a:xfrm>
          <a:prstGeom prst="ellipse">
            <a:avLst/>
          </a:prstGeom>
          <a:solidFill>
            <a:srgbClr val="5FC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052559" y="5623560"/>
            <a:ext cx="685800" cy="685800"/>
          </a:xfrm>
          <a:prstGeom prst="ellipse">
            <a:avLst/>
          </a:prstGeom>
          <a:solidFill>
            <a:srgbClr val="5FC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104119" y="5623560"/>
            <a:ext cx="685800" cy="685800"/>
          </a:xfrm>
          <a:prstGeom prst="ellipse">
            <a:avLst/>
          </a:prstGeom>
          <a:solidFill>
            <a:srgbClr val="5FC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55680" y="5623560"/>
            <a:ext cx="685800" cy="685800"/>
          </a:xfrm>
          <a:prstGeom prst="ellipse">
            <a:avLst/>
          </a:prstGeom>
          <a:solidFill>
            <a:srgbClr val="5FC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1234440"/>
            <a:ext cx="105156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 i="0">
                <a:solidFill>
                  <a:srgbClr val="5FC9A6"/>
                </a:solidFill>
                <a:latin typeface="Calibri"/>
              </a:rPr>
              <a:t>УРОК БИОЛОГИИ  •  8 КЛАСС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  <a:latin typeface="Calibri"/>
              </a:rPr>
              <a:t>Многощетинковые черви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5200" b="1" i="0">
                <a:solidFill>
                  <a:srgbClr val="179EA0"/>
                </a:solidFill>
                <a:latin typeface="Calibri"/>
              </a:rPr>
              <a:t>Пиявки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C9DDE8"/>
                </a:solidFill>
                <a:latin typeface="Calibri"/>
              </a:rPr>
              <a:t>Строение, среда обитания, размножение и роль в природе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53212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Тип Кольчатые черви  (Annelida)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EC9D8"/>
                </a:solidFill>
                <a:latin typeface="Calibri"/>
              </a:rPr>
              <a:t>Классы: Многощетинковые (Polychaeta) и Поясковые (Clitellata — пиявки)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C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79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FC9A6"/>
                </a:solidFill>
                <a:latin typeface="Calibri"/>
              </a:rPr>
              <a:t>СЕГОДНЯ РАЗБЕРЁМ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План урока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508760"/>
            <a:ext cx="548640" cy="548640"/>
          </a:xfrm>
          <a:prstGeom prst="ellipse">
            <a:avLst/>
          </a:prstGeom>
          <a:solidFill>
            <a:srgbClr val="179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463040"/>
            <a:ext cx="9692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0B2E4F"/>
                </a:solidFill>
                <a:latin typeface="Calibri"/>
              </a:rPr>
              <a:t>Многощетинковые черви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B7B"/>
                </a:solidFill>
                <a:latin typeface="Calibri"/>
              </a:rPr>
              <a:t>Среда обитания и внешнее строение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286000"/>
            <a:ext cx="548640" cy="548640"/>
          </a:xfrm>
          <a:prstGeom prst="ellipse">
            <a:avLst/>
          </a:prstGeom>
          <a:solidFill>
            <a:srgbClr val="11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240280"/>
            <a:ext cx="9692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0B2E4F"/>
                </a:solidFill>
                <a:latin typeface="Calibri"/>
              </a:rPr>
              <a:t>Параподии — «вёсла» и «жабры»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B7B"/>
                </a:solidFill>
                <a:latin typeface="Calibri"/>
              </a:rPr>
              <a:t>Как полихеты двигаются и дышат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063240"/>
            <a:ext cx="548640" cy="548640"/>
          </a:xfrm>
          <a:prstGeom prst="ellipse">
            <a:avLst/>
          </a:prstGeom>
          <a:solidFill>
            <a:srgbClr val="5FC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017520"/>
            <a:ext cx="9692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0B2E4F"/>
                </a:solidFill>
                <a:latin typeface="Calibri"/>
              </a:rPr>
              <a:t>Размножение полихет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B7B"/>
                </a:solidFill>
                <a:latin typeface="Calibri"/>
              </a:rPr>
              <a:t>Раздельнополые, развитие с личинкой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840480"/>
            <a:ext cx="548640" cy="548640"/>
          </a:xfrm>
          <a:prstGeom prst="ellipse">
            <a:avLst/>
          </a:prstGeom>
          <a:solidFill>
            <a:srgbClr val="C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794760"/>
            <a:ext cx="9692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0B2E4F"/>
                </a:solidFill>
                <a:latin typeface="Calibri"/>
              </a:rPr>
              <a:t>Пиявки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B7B"/>
                </a:solidFill>
                <a:latin typeface="Calibri"/>
              </a:rPr>
              <a:t>Среда обитания, присоски, гирудин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617720"/>
            <a:ext cx="548640" cy="548640"/>
          </a:xfrm>
          <a:prstGeom prst="ellipse">
            <a:avLst/>
          </a:prstGeom>
          <a:solidFill>
            <a:srgbClr val="A8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572000"/>
            <a:ext cx="9692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0B2E4F"/>
                </a:solidFill>
                <a:latin typeface="Calibri"/>
              </a:rPr>
              <a:t>Размножение пиявок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B7B"/>
                </a:solidFill>
                <a:latin typeface="Calibri"/>
              </a:rPr>
              <a:t>Гермафродиты, прямое развитие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5394960"/>
            <a:ext cx="548640" cy="548640"/>
          </a:xfrm>
          <a:prstGeom prst="ellipse">
            <a:avLst/>
          </a:prstGeom>
          <a:solidFill>
            <a:srgbClr val="E8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349240"/>
            <a:ext cx="9692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0B2E4F"/>
                </a:solidFill>
                <a:latin typeface="Calibri"/>
              </a:rPr>
              <a:t>Сравнение и выводы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B7B"/>
                </a:solidFill>
                <a:latin typeface="Calibri"/>
              </a:rPr>
              <a:t>Черви, интересные факты о полихетах и пиявках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Многощетинковые черви. Пиявки  •  8 класс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79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FC9A6"/>
                </a:solidFill>
                <a:latin typeface="Calibri"/>
              </a:rPr>
              <a:t>КЛАСС POLYCHAETA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Многощетинковые черви: где живут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86400" cy="4480560"/>
          </a:xfrm>
          <a:prstGeom prst="roundRect">
            <a:avLst>
              <a:gd name="adj" fmla="val 6000"/>
            </a:avLst>
          </a:prstGeom>
          <a:solidFill>
            <a:srgbClr val="E4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486400" cy="109728"/>
          </a:xfrm>
          <a:prstGeom prst="rect">
            <a:avLst/>
          </a:prstGeom>
          <a:solidFill>
            <a:srgbClr val="179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10512"/>
            <a:ext cx="5029200" cy="4069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179EA0"/>
                </a:solidFill>
                <a:latin typeface="Calibri"/>
              </a:rPr>
              <a:t>Среда обитания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1C2B39"/>
                </a:solidFill>
                <a:latin typeface="Calibri"/>
              </a:rPr>
              <a:t>Преимущественно морские воды — солёная среда.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1C2B39"/>
                </a:solidFill>
                <a:latin typeface="Calibri"/>
              </a:rPr>
              <a:t>Живут на дне (бентос) или в толще воды (планктон).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1C2B39"/>
                </a:solidFill>
                <a:latin typeface="Calibri"/>
              </a:rPr>
              <a:t>Встречаются от прибрежного мелководья до глубин океана.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1C2B39"/>
                </a:solidFill>
                <a:latin typeface="Calibri"/>
              </a:rPr>
              <a:t>Прячутся в грунте, норках, трубках или среди рифов.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303520" cy="4480560"/>
          </a:xfrm>
          <a:prstGeom prst="round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475488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1" i="0">
                <a:solidFill>
                  <a:srgbClr val="5FC9A6"/>
                </a:solidFill>
                <a:latin typeface="Calibri"/>
              </a:rPr>
              <a:t>Почему именно море?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E8A83A"/>
                </a:solidFill>
                <a:latin typeface="Calibri"/>
              </a:rPr>
              <a:t>→  </a:t>
            </a:r>
            <a:r>
              <a:rPr sz="1500" b="0" i="0">
                <a:solidFill>
                  <a:srgbClr val="DDEAF2"/>
                </a:solidFill>
                <a:latin typeface="Calibri"/>
              </a:rPr>
              <a:t>Солёная вода поддерживает тело и помогает плавать.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E8A83A"/>
                </a:solidFill>
                <a:latin typeface="Calibri"/>
              </a:rPr>
              <a:t>→  </a:t>
            </a:r>
            <a:r>
              <a:rPr sz="1500" b="0" i="0">
                <a:solidFill>
                  <a:srgbClr val="DDEAF2"/>
                </a:solidFill>
                <a:latin typeface="Calibri"/>
              </a:rPr>
              <a:t>Обилие пищи: планктон, органические остатки на дне.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E8A83A"/>
                </a:solidFill>
                <a:latin typeface="Calibri"/>
              </a:rPr>
              <a:t>→  </a:t>
            </a:r>
            <a:r>
              <a:rPr sz="1500" b="0" i="0">
                <a:solidFill>
                  <a:srgbClr val="DDEAF2"/>
                </a:solidFill>
                <a:latin typeface="Calibri"/>
              </a:rPr>
              <a:t>Разнообразие «профессий»: ползающие, плавающие, сидячие формы.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E8A83A"/>
                </a:solidFill>
                <a:latin typeface="Calibri"/>
              </a:rPr>
              <a:t>→  </a:t>
            </a:r>
            <a:r>
              <a:rPr sz="1500" b="0" i="0">
                <a:solidFill>
                  <a:srgbClr val="DDEAF2"/>
                </a:solidFill>
                <a:latin typeface="Calibri"/>
              </a:rPr>
              <a:t>Именно полихеты — самые древние и многочисленные кольчецы.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Многощетинковые черви. Пиявки  •  8 класс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79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FC9A6"/>
                </a:solidFill>
                <a:latin typeface="Calibri"/>
              </a:rPr>
              <a:t>ГЛАВНАЯ «ФИШКА» — ПАРАПОДИИ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Внешнее строение полихеты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577840" cy="2103120"/>
          </a:xfrm>
          <a:prstGeom prst="roundRect">
            <a:avLst>
              <a:gd name="adj" fmla="val 6000"/>
            </a:avLst>
          </a:prstGeom>
          <a:solidFill>
            <a:srgbClr val="E4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577840" cy="109728"/>
          </a:xfrm>
          <a:prstGeom prst="rect">
            <a:avLst/>
          </a:prstGeom>
          <a:solidFill>
            <a:srgbClr val="11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10512"/>
            <a:ext cx="512064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115A8C"/>
                </a:solidFill>
                <a:latin typeface="Calibri"/>
              </a:rPr>
              <a:t>Отделы тела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1C2B39"/>
                </a:solidFill>
                <a:latin typeface="Calibri"/>
              </a:rPr>
              <a:t>Головная лопасть — глаза и щупальца для ориентации.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1C2B39"/>
                </a:solidFill>
                <a:latin typeface="Calibri"/>
              </a:rPr>
              <a:t>Туловище — множество сегментов (кольцев).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1C2B39"/>
                </a:solidFill>
                <a:latin typeface="Calibri"/>
              </a:rPr>
              <a:t>Анальная лопасть — завершает тело.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40480"/>
            <a:ext cx="5577840" cy="2194560"/>
          </a:xfrm>
          <a:prstGeom prst="roundRect">
            <a:avLst>
              <a:gd name="adj" fmla="val 6000"/>
            </a:avLst>
          </a:prstGeom>
          <a:solidFill>
            <a:srgbClr val="E6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840480"/>
            <a:ext cx="5577840" cy="109728"/>
          </a:xfrm>
          <a:prstGeom prst="rect">
            <a:avLst/>
          </a:prstGeom>
          <a:solidFill>
            <a:srgbClr val="5FC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096512"/>
            <a:ext cx="512064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5FC9A6"/>
                </a:solidFill>
                <a:latin typeface="Calibri"/>
              </a:rPr>
              <a:t>Параподии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1C2B39"/>
                </a:solidFill>
                <a:latin typeface="Calibri"/>
              </a:rPr>
              <a:t>Боковые выросты на каждом сегменте с пучками щетинок.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1C2B39"/>
                </a:solidFill>
                <a:latin typeface="Calibri"/>
              </a:rPr>
              <a:t>Работают как «вёсла» — помогают двигаться.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1C2B39"/>
                </a:solidFill>
                <a:latin typeface="Calibri"/>
              </a:rPr>
              <a:t>Работают как жабры — участвуют в дыхании.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1C2B39"/>
                </a:solidFill>
                <a:latin typeface="Calibri"/>
              </a:rPr>
              <a:t>Именно по ним класс получил название «многощетинковые».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5212080" cy="4480560"/>
          </a:xfrm>
          <a:prstGeom prst="round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78308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FC9A6"/>
                </a:solidFill>
                <a:latin typeface="Calibri"/>
              </a:rPr>
              <a:t>Схема тела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3154680"/>
            <a:ext cx="4572000" cy="822960"/>
          </a:xfrm>
          <a:prstGeom prst="roundRect">
            <a:avLst/>
          </a:prstGeom>
          <a:solidFill>
            <a:srgbClr val="179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29400" y="3108960"/>
            <a:ext cx="685800" cy="914400"/>
          </a:xfrm>
          <a:prstGeom prst="ellipse">
            <a:avLst/>
          </a:prstGeom>
          <a:solidFill>
            <a:srgbClr val="5FC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3090672"/>
            <a:ext cx="457200" cy="950976"/>
          </a:xfrm>
          <a:prstGeom prst="rect">
            <a:avLst/>
          </a:prstGeom>
          <a:solidFill>
            <a:srgbClr val="0E4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25512" y="2788920"/>
            <a:ext cx="310896" cy="292608"/>
          </a:xfrm>
          <a:prstGeom prst="ellipse">
            <a:avLst/>
          </a:prstGeom>
          <a:solidFill>
            <a:srgbClr val="E8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525512" y="4041648"/>
            <a:ext cx="310896" cy="292608"/>
          </a:xfrm>
          <a:prstGeom prst="ellipse">
            <a:avLst/>
          </a:prstGeom>
          <a:solidFill>
            <a:srgbClr val="E8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3090672"/>
            <a:ext cx="457200" cy="950976"/>
          </a:xfrm>
          <a:prstGeom prst="rect">
            <a:avLst/>
          </a:prstGeom>
          <a:solidFill>
            <a:srgbClr val="0E4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65592" y="2788920"/>
            <a:ext cx="310896" cy="292608"/>
          </a:xfrm>
          <a:prstGeom prst="ellipse">
            <a:avLst/>
          </a:prstGeom>
          <a:solidFill>
            <a:srgbClr val="E8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65592" y="4041648"/>
            <a:ext cx="310896" cy="292608"/>
          </a:xfrm>
          <a:prstGeom prst="ellipse">
            <a:avLst/>
          </a:prstGeom>
          <a:solidFill>
            <a:srgbClr val="E8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32520" y="3090672"/>
            <a:ext cx="457200" cy="950976"/>
          </a:xfrm>
          <a:prstGeom prst="rect">
            <a:avLst/>
          </a:prstGeom>
          <a:solidFill>
            <a:srgbClr val="0E4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805672" y="2788920"/>
            <a:ext cx="310896" cy="292608"/>
          </a:xfrm>
          <a:prstGeom prst="ellipse">
            <a:avLst/>
          </a:prstGeom>
          <a:solidFill>
            <a:srgbClr val="E8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805672" y="4041648"/>
            <a:ext cx="310896" cy="292608"/>
          </a:xfrm>
          <a:prstGeom prst="ellipse">
            <a:avLst/>
          </a:prstGeom>
          <a:solidFill>
            <a:srgbClr val="E8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72600" y="3090672"/>
            <a:ext cx="457200" cy="950976"/>
          </a:xfrm>
          <a:prstGeom prst="rect">
            <a:avLst/>
          </a:prstGeom>
          <a:solidFill>
            <a:srgbClr val="0E4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45752" y="2788920"/>
            <a:ext cx="310896" cy="292608"/>
          </a:xfrm>
          <a:prstGeom prst="ellipse">
            <a:avLst/>
          </a:prstGeom>
          <a:solidFill>
            <a:srgbClr val="E8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45752" y="4041648"/>
            <a:ext cx="310896" cy="292608"/>
          </a:xfrm>
          <a:prstGeom prst="ellipse">
            <a:avLst/>
          </a:prstGeom>
          <a:solidFill>
            <a:srgbClr val="E8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012680" y="3090672"/>
            <a:ext cx="457200" cy="950976"/>
          </a:xfrm>
          <a:prstGeom prst="rect">
            <a:avLst/>
          </a:prstGeom>
          <a:solidFill>
            <a:srgbClr val="0E4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085832" y="2788920"/>
            <a:ext cx="310896" cy="292608"/>
          </a:xfrm>
          <a:prstGeom prst="ellipse">
            <a:avLst/>
          </a:prstGeom>
          <a:solidFill>
            <a:srgbClr val="E8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85832" y="4041648"/>
            <a:ext cx="310896" cy="292608"/>
          </a:xfrm>
          <a:prstGeom prst="ellipse">
            <a:avLst/>
          </a:prstGeom>
          <a:solidFill>
            <a:srgbClr val="E8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652760" y="3090672"/>
            <a:ext cx="457200" cy="950976"/>
          </a:xfrm>
          <a:prstGeom prst="rect">
            <a:avLst/>
          </a:prstGeom>
          <a:solidFill>
            <a:srgbClr val="0E4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725912" y="2788920"/>
            <a:ext cx="310896" cy="292608"/>
          </a:xfrm>
          <a:prstGeom prst="ellipse">
            <a:avLst/>
          </a:prstGeom>
          <a:solidFill>
            <a:srgbClr val="E8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725912" y="4041648"/>
            <a:ext cx="310896" cy="292608"/>
          </a:xfrm>
          <a:prstGeom prst="ellipse">
            <a:avLst/>
          </a:prstGeom>
          <a:solidFill>
            <a:srgbClr val="E8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4572000"/>
            <a:ext cx="46634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CFE3EE"/>
                </a:solidFill>
                <a:latin typeface="Calibri"/>
              </a:rPr>
              <a:t>Головная лопасть — глаза, щупальца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A83A"/>
                </a:solidFill>
                <a:latin typeface="Calibri"/>
              </a:rPr>
              <a:t>Жёлтые выросты — параподии со щетинками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FE3EE"/>
                </a:solidFill>
                <a:latin typeface="Calibri"/>
              </a:rPr>
              <a:t>Сегментированное туловище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Многощетинковые черви. Пиявки  •  8 класс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5FC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FC9A6"/>
                </a:solidFill>
                <a:latin typeface="Calibri"/>
              </a:rPr>
              <a:t>НЕПРЯМОЕ РАЗВИТИЕ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Размножение полихет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212080" cy="4480560"/>
          </a:xfrm>
          <a:prstGeom prst="roundRect">
            <a:avLst>
              <a:gd name="adj" fmla="val 6000"/>
            </a:avLst>
          </a:prstGeom>
          <a:solidFill>
            <a:srgbClr val="E6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212080" cy="109728"/>
          </a:xfrm>
          <a:prstGeom prst="rect">
            <a:avLst/>
          </a:prstGeom>
          <a:solidFill>
            <a:srgbClr val="5FC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10512"/>
            <a:ext cx="4754880" cy="4069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5FC9A6"/>
                </a:solidFill>
                <a:latin typeface="Calibri"/>
              </a:rPr>
              <a:t>Особенности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1C2B39"/>
                </a:solidFill>
                <a:latin typeface="Calibri"/>
              </a:rPr>
              <a:t>Раздельнополые животные (есть самцы и самки).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1C2B39"/>
                </a:solidFill>
                <a:latin typeface="Calibri"/>
              </a:rPr>
              <a:t>Половые клетки выметываются прямо в воду.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1C2B39"/>
                </a:solidFill>
                <a:latin typeface="Calibri"/>
              </a:rPr>
              <a:t>Оплодотворение наружное — в морской воде.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1C2B39"/>
                </a:solidFill>
                <a:latin typeface="Calibri"/>
              </a:rPr>
              <a:t>Развитие непрямое: есть стадия личинки.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554480"/>
            <a:ext cx="5577840" cy="4480560"/>
          </a:xfrm>
          <a:prstGeom prst="roundRect">
            <a:avLst/>
          </a:prstGeom>
          <a:solidFill>
            <a:srgbClr val="E4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78308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5A8C"/>
                </a:solidFill>
                <a:latin typeface="Calibri"/>
              </a:rPr>
              <a:t>Путь развития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2514600"/>
            <a:ext cx="502920" cy="502920"/>
          </a:xfrm>
          <a:prstGeom prst="ellipse">
            <a:avLst/>
          </a:prstGeom>
          <a:solidFill>
            <a:srgbClr val="179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459736"/>
            <a:ext cx="42062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2E4F"/>
                </a:solidFill>
                <a:latin typeface="Calibri"/>
              </a:rPr>
              <a:t>Яйцо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B"/>
                </a:solidFill>
                <a:latin typeface="Calibri"/>
              </a:rPr>
              <a:t>в воде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0256" y="3063240"/>
            <a:ext cx="64008" cy="320040"/>
          </a:xfrm>
          <a:prstGeom prst="rect">
            <a:avLst/>
          </a:prstGeom>
          <a:solidFill>
            <a:srgbClr val="5FC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0" y="3383280"/>
            <a:ext cx="502920" cy="502920"/>
          </a:xfrm>
          <a:prstGeom prst="ellipse">
            <a:avLst/>
          </a:prstGeom>
          <a:solidFill>
            <a:srgbClr val="11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328416"/>
            <a:ext cx="42062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2E4F"/>
                </a:solidFill>
                <a:latin typeface="Calibri"/>
              </a:rPr>
              <a:t>Личинка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B"/>
                </a:solidFill>
                <a:latin typeface="Calibri"/>
              </a:rPr>
              <a:t>плавает, не похожа на взрослого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0256" y="3931920"/>
            <a:ext cx="64008" cy="320040"/>
          </a:xfrm>
          <a:prstGeom prst="rect">
            <a:avLst/>
          </a:prstGeom>
          <a:solidFill>
            <a:srgbClr val="5FC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4251960"/>
            <a:ext cx="502920" cy="502920"/>
          </a:xfrm>
          <a:prstGeom prst="ellipse">
            <a:avLst/>
          </a:prstGeom>
          <a:solidFill>
            <a:srgbClr val="179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4197096"/>
            <a:ext cx="42062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2E4F"/>
                </a:solidFill>
                <a:latin typeface="Calibri"/>
              </a:rPr>
              <a:t>Молодой червь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B"/>
                </a:solidFill>
                <a:latin typeface="Calibri"/>
              </a:rPr>
              <a:t>оседает на дно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20256" y="4800600"/>
            <a:ext cx="64008" cy="320040"/>
          </a:xfrm>
          <a:prstGeom prst="rect">
            <a:avLst/>
          </a:prstGeom>
          <a:solidFill>
            <a:srgbClr val="5FC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0" y="5120640"/>
            <a:ext cx="502920" cy="502920"/>
          </a:xfrm>
          <a:prstGeom prst="ellipse">
            <a:avLst/>
          </a:prstGeom>
          <a:solidFill>
            <a:srgbClr val="11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5065776"/>
            <a:ext cx="42062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2E4F"/>
                </a:solidFill>
                <a:latin typeface="Calibri"/>
              </a:rPr>
              <a:t>Взрослая особь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B"/>
                </a:solidFill>
                <a:latin typeface="Calibri"/>
              </a:rPr>
              <a:t>растёт и сегментируется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Многощетинковые черви. Пиявки  •  8 класс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FC9A6"/>
                </a:solidFill>
                <a:latin typeface="Calibri"/>
              </a:rPr>
              <a:t>КЛАСС ПОЯСКОВЫЕ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Пиявки: где живут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86400" cy="4480560"/>
          </a:xfrm>
          <a:prstGeom prst="roundRect">
            <a:avLst>
              <a:gd name="adj" fmla="val 6000"/>
            </a:avLst>
          </a:prstGeom>
          <a:solidFill>
            <a:srgbClr val="FA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486400" cy="109728"/>
          </a:xfrm>
          <a:prstGeom prst="rect">
            <a:avLst/>
          </a:prstGeom>
          <a:solidFill>
            <a:srgbClr val="C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10512"/>
            <a:ext cx="5029200" cy="4069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C03A5B"/>
                </a:solidFill>
                <a:latin typeface="Calibri"/>
              </a:rPr>
              <a:t>Среда обитания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1C2B39"/>
                </a:solidFill>
                <a:latin typeface="Calibri"/>
              </a:rPr>
              <a:t>В основном пресные водоёмы: реки, озёра, пруды.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1C2B39"/>
                </a:solidFill>
                <a:latin typeface="Calibri"/>
              </a:rPr>
              <a:t>Некоторые виды — во влажной почве тропиков.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1C2B39"/>
                </a:solidFill>
                <a:latin typeface="Calibri"/>
              </a:rPr>
              <a:t>Есть и морские формы.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1C2B39"/>
                </a:solidFill>
                <a:latin typeface="Calibri"/>
              </a:rPr>
              <a:t>Предпочитают чистую воду, богатую кислородом.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303520" cy="4480560"/>
          </a:xfrm>
          <a:prstGeom prst="roundRect">
            <a:avLst/>
          </a:prstGeom>
          <a:solidFill>
            <a:srgbClr val="4A1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475488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1" i="0">
                <a:solidFill>
                  <a:srgbClr val="F2B8C6"/>
                </a:solidFill>
                <a:latin typeface="Calibri"/>
              </a:rPr>
              <a:t>Важно понимать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E8A83A"/>
                </a:solidFill>
                <a:latin typeface="Calibri"/>
              </a:rPr>
              <a:t>→  </a:t>
            </a:r>
            <a:r>
              <a:rPr sz="1500" b="0" i="0">
                <a:solidFill>
                  <a:srgbClr val="F7E2E8"/>
                </a:solidFill>
                <a:latin typeface="Calibri"/>
              </a:rPr>
              <a:t>Пиявки — не только паразиты: многие ведут хищный образ жизни.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E8A83A"/>
                </a:solidFill>
                <a:latin typeface="Calibri"/>
              </a:rPr>
              <a:t>→  </a:t>
            </a:r>
            <a:r>
              <a:rPr sz="1500" b="0" i="0">
                <a:solidFill>
                  <a:srgbClr val="F7E2E8"/>
                </a:solidFill>
                <a:latin typeface="Calibri"/>
              </a:rPr>
              <a:t>Они дышат всей поверхностью тела — жабр нет.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E8A83A"/>
                </a:solidFill>
                <a:latin typeface="Calibri"/>
              </a:rPr>
              <a:t>→  </a:t>
            </a:r>
            <a:r>
              <a:rPr sz="1500" b="0" i="0">
                <a:solidFill>
                  <a:srgbClr val="F7E2E8"/>
                </a:solidFill>
                <a:latin typeface="Calibri"/>
              </a:rPr>
              <a:t>Тело уплощённое и очень гибкое — удобно прятаться.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E8A83A"/>
                </a:solidFill>
                <a:latin typeface="Calibri"/>
              </a:rPr>
              <a:t>→  </a:t>
            </a:r>
            <a:r>
              <a:rPr sz="1500" b="0" i="0">
                <a:solidFill>
                  <a:srgbClr val="F7E2E8"/>
                </a:solidFill>
                <a:latin typeface="Calibri"/>
              </a:rPr>
              <a:t>Живут в воде, но могут подолгу обходиться без неё.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Многощетинковые черви. Пиявки  •  8 класс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FC9A6"/>
                </a:solidFill>
                <a:latin typeface="Calibri"/>
              </a:rPr>
              <a:t>ДВЕ ПРИСОСКИ — ДВЕ ТОЧКИ ОПОРЫ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Внешнее строение пиявки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577840" cy="2103120"/>
          </a:xfrm>
          <a:prstGeom prst="roundRect">
            <a:avLst>
              <a:gd name="adj" fmla="val 6000"/>
            </a:avLst>
          </a:prstGeom>
          <a:solidFill>
            <a:srgbClr val="FA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577840" cy="109728"/>
          </a:xfrm>
          <a:prstGeom prst="rect">
            <a:avLst/>
          </a:prstGeom>
          <a:solidFill>
            <a:srgbClr val="C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10512"/>
            <a:ext cx="512064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C03A5B"/>
                </a:solidFill>
                <a:latin typeface="Calibri"/>
              </a:rPr>
              <a:t>Тело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1C2B39"/>
                </a:solidFill>
                <a:latin typeface="Calibri"/>
              </a:rPr>
              <a:t>Уплощённое, сегментированное.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1C2B39"/>
                </a:solidFill>
                <a:latin typeface="Calibri"/>
              </a:rPr>
              <a:t>Без щетинок и без параподий — не как у полихет.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1C2B39"/>
                </a:solidFill>
                <a:latin typeface="Calibri"/>
              </a:rPr>
              <a:t>Очень эластичное и растяжимое.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40480"/>
            <a:ext cx="5577840" cy="2194560"/>
          </a:xfrm>
          <a:prstGeom prst="roundRect">
            <a:avLst>
              <a:gd name="adj" fmla="val 6000"/>
            </a:avLst>
          </a:prstGeom>
          <a:solidFill>
            <a:srgbClr val="E6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840480"/>
            <a:ext cx="5577840" cy="109728"/>
          </a:xfrm>
          <a:prstGeom prst="rect">
            <a:avLst/>
          </a:prstGeom>
          <a:solidFill>
            <a:srgbClr val="179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096512"/>
            <a:ext cx="512064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179EA0"/>
                </a:solidFill>
                <a:latin typeface="Calibri"/>
              </a:rPr>
              <a:t>Присоски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1C2B39"/>
                </a:solidFill>
                <a:latin typeface="Calibri"/>
              </a:rPr>
              <a:t>Передняя — с ротовым отверстием и хитиновыми зубчиками.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1C2B39"/>
                </a:solidFill>
                <a:latin typeface="Calibri"/>
              </a:rPr>
              <a:t>Задняя — для прочного прикрепления к жертве или дну.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1C2B39"/>
                </a:solidFill>
                <a:latin typeface="Calibri"/>
              </a:rPr>
              <a:t>Позволяют передвигаться «шагами» и удерживаться.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5212080" cy="4480560"/>
          </a:xfrm>
          <a:prstGeom prst="roundRect">
            <a:avLst/>
          </a:prstGeom>
          <a:solidFill>
            <a:srgbClr val="4A1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78308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2B8C6"/>
                </a:solidFill>
                <a:latin typeface="Calibri"/>
              </a:rPr>
              <a:t>Движение «шагами»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468880"/>
            <a:ext cx="46634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500" b="1" i="0">
                <a:solidFill>
                  <a:srgbClr val="E8A83A"/>
                </a:solidFill>
                <a:latin typeface="Calibri"/>
              </a:rPr>
              <a:t>●  </a:t>
            </a:r>
            <a:r>
              <a:rPr sz="1500" b="0" i="0">
                <a:solidFill>
                  <a:srgbClr val="F7E2E8"/>
                </a:solidFill>
                <a:latin typeface="Calibri"/>
              </a:rPr>
              <a:t>1. Прикрепляется задней присоской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E8A83A"/>
                </a:solidFill>
                <a:latin typeface="Calibri"/>
              </a:rPr>
              <a:t>●  </a:t>
            </a:r>
            <a:r>
              <a:rPr sz="1500" b="0" i="0">
                <a:solidFill>
                  <a:srgbClr val="F7E2E8"/>
                </a:solidFill>
                <a:latin typeface="Calibri"/>
              </a:rPr>
              <a:t>2. Вытягивает тело вперёд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E8A83A"/>
                </a:solidFill>
                <a:latin typeface="Calibri"/>
              </a:rPr>
              <a:t>●  </a:t>
            </a:r>
            <a:r>
              <a:rPr sz="1500" b="0" i="0">
                <a:solidFill>
                  <a:srgbClr val="F7E2E8"/>
                </a:solidFill>
                <a:latin typeface="Calibri"/>
              </a:rPr>
              <a:t>3. Цепляется передней присоской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E8A83A"/>
                </a:solidFill>
                <a:latin typeface="Calibri"/>
              </a:rPr>
              <a:t>●  </a:t>
            </a:r>
            <a:r>
              <a:rPr sz="1500" b="0" i="0">
                <a:solidFill>
                  <a:srgbClr val="F7E2E8"/>
                </a:solidFill>
                <a:latin typeface="Calibri"/>
              </a:rPr>
              <a:t>4. Подтягивает заднюю — шаг готов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300" b="0" i="1">
                <a:solidFill>
                  <a:srgbClr val="E8B0C0"/>
                </a:solidFill>
                <a:latin typeface="Calibri"/>
              </a:rPr>
              <a:t>Две присоски дают две точки опоры — одна, как у осьминога, не позволила бы так двигаться.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Многощетинковые черви. Пиявки  •  8 класс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FC9A6"/>
                </a:solidFill>
                <a:latin typeface="Calibri"/>
              </a:rPr>
              <a:t>СЕКРЕТ СЛЮННЫХ ЖЕЛЕЗ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Внутреннее строение и гирудин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86400" cy="2103120"/>
          </a:xfrm>
          <a:prstGeom prst="roundRect">
            <a:avLst>
              <a:gd name="adj" fmla="val 6000"/>
            </a:avLst>
          </a:prstGeom>
          <a:solidFill>
            <a:srgbClr val="FA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486400" cy="109728"/>
          </a:xfrm>
          <a:prstGeom prst="rect">
            <a:avLst/>
          </a:prstGeom>
          <a:solidFill>
            <a:srgbClr val="C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10512"/>
            <a:ext cx="502920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C03A5B"/>
                </a:solidFill>
                <a:latin typeface="Calibri"/>
              </a:rPr>
              <a:t>Полость тела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1C2B39"/>
                </a:solidFill>
                <a:latin typeface="Calibri"/>
              </a:rPr>
              <a:t>Вторичная полость (целом) сильно заросла соединительной тканью.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1C2B39"/>
                </a:solidFill>
                <a:latin typeface="Calibri"/>
              </a:rPr>
              <a:t>Остались лишь небольшие каналы.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1C2B39"/>
                </a:solidFill>
                <a:latin typeface="Calibri"/>
              </a:rPr>
              <a:t>Такое строение делает тело плотным и гибким.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4048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E6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840480"/>
            <a:ext cx="5486400" cy="109728"/>
          </a:xfrm>
          <a:prstGeom prst="rect">
            <a:avLst/>
          </a:prstGeom>
          <a:solidFill>
            <a:srgbClr val="179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096512"/>
            <a:ext cx="502920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179EA0"/>
                </a:solidFill>
                <a:latin typeface="Calibri"/>
              </a:rPr>
              <a:t>Гирудин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1C2B39"/>
                </a:solidFill>
                <a:latin typeface="Calibri"/>
              </a:rPr>
              <a:t>Вырабатывается в слюнных железах.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1C2B39"/>
                </a:solidFill>
                <a:latin typeface="Calibri"/>
              </a:rPr>
              <a:t>Препятствует свёртыванию крови жертвы.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1C2B39"/>
                </a:solidFill>
                <a:latin typeface="Calibri"/>
              </a:rPr>
              <a:t>Кровь течёт свободно, пока пиявка питается.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303520" cy="4480560"/>
          </a:xfrm>
          <a:prstGeom prst="round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475488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1" i="0">
                <a:solidFill>
                  <a:srgbClr val="5FC9A6"/>
                </a:solidFill>
                <a:latin typeface="Calibri"/>
              </a:rPr>
              <a:t>Медицинское значение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E8A83A"/>
                </a:solidFill>
                <a:latin typeface="Calibri"/>
              </a:rPr>
              <a:t>✚  </a:t>
            </a:r>
            <a:r>
              <a:rPr sz="1500" b="0" i="0">
                <a:solidFill>
                  <a:srgbClr val="DDEAF2"/>
                </a:solidFill>
                <a:latin typeface="Calibri"/>
              </a:rPr>
              <a:t>Гирудотерапия — лечение с помощью пиявок.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E8A83A"/>
                </a:solidFill>
                <a:latin typeface="Calibri"/>
              </a:rPr>
              <a:t>✚  </a:t>
            </a:r>
            <a:r>
              <a:rPr sz="1500" b="0" i="0">
                <a:solidFill>
                  <a:srgbClr val="DDEAF2"/>
                </a:solidFill>
                <a:latin typeface="Calibri"/>
              </a:rPr>
              <a:t>Применяется после сложных пластических операций.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E8A83A"/>
                </a:solidFill>
                <a:latin typeface="Calibri"/>
              </a:rPr>
              <a:t>✚  </a:t>
            </a:r>
            <a:r>
              <a:rPr sz="1500" b="0" i="0">
                <a:solidFill>
                  <a:srgbClr val="DDEAF2"/>
                </a:solidFill>
                <a:latin typeface="Calibri"/>
              </a:rPr>
              <a:t>Гирудин не даёт крови сворачиваться в месте шва.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E8A83A"/>
                </a:solidFill>
                <a:latin typeface="Calibri"/>
              </a:rPr>
              <a:t>✚  </a:t>
            </a:r>
            <a:r>
              <a:rPr sz="1500" b="0" i="0">
                <a:solidFill>
                  <a:srgbClr val="DDEAF2"/>
                </a:solidFill>
                <a:latin typeface="Calibri"/>
              </a:rPr>
              <a:t>Это предотвращает тромбы, снимает отёк и улучшает питание тканей.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Многощетинковые черви. Пиявки  •  8 класс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5FC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FC9A6"/>
                </a:solidFill>
                <a:latin typeface="Calibri"/>
              </a:rPr>
              <a:t>ПРЯМОЕ РАЗВИТИЕ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Размножение пиявок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212080" cy="4480560"/>
          </a:xfrm>
          <a:prstGeom prst="roundRect">
            <a:avLst>
              <a:gd name="adj" fmla="val 6000"/>
            </a:avLst>
          </a:prstGeom>
          <a:solidFill>
            <a:srgbClr val="E6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212080" cy="109728"/>
          </a:xfrm>
          <a:prstGeom prst="rect">
            <a:avLst/>
          </a:prstGeom>
          <a:solidFill>
            <a:srgbClr val="5FC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10512"/>
            <a:ext cx="4754880" cy="4069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5FC9A6"/>
                </a:solidFill>
                <a:latin typeface="Calibri"/>
              </a:rPr>
              <a:t>Особенности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1C2B39"/>
                </a:solidFill>
                <a:latin typeface="Calibri"/>
              </a:rPr>
              <a:t>Гермафродиты — как дождевые черви.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1C2B39"/>
                </a:solidFill>
                <a:latin typeface="Calibri"/>
              </a:rPr>
              <a:t>Оплодотворение перекрёстное.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1C2B39"/>
                </a:solidFill>
                <a:latin typeface="Calibri"/>
              </a:rPr>
              <a:t>Яйца откладываются в кокон.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1C2B39"/>
                </a:solidFill>
                <a:latin typeface="Calibri"/>
              </a:rPr>
              <a:t>Развитие прямое — без личинки.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554480"/>
            <a:ext cx="5577840" cy="4480560"/>
          </a:xfrm>
          <a:prstGeom prst="roundRect">
            <a:avLst/>
          </a:prstGeom>
          <a:solidFill>
            <a:srgbClr val="E4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78308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5A8C"/>
                </a:solidFill>
                <a:latin typeface="Calibri"/>
              </a:rPr>
              <a:t>Путь развития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2651760"/>
            <a:ext cx="502920" cy="502920"/>
          </a:xfrm>
          <a:prstGeom prst="ellipse">
            <a:avLst/>
          </a:prstGeom>
          <a:solidFill>
            <a:srgbClr val="179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596896"/>
            <a:ext cx="4206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2E4F"/>
                </a:solidFill>
                <a:latin typeface="Calibri"/>
              </a:rPr>
              <a:t>Яйцо в коконе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B"/>
                </a:solidFill>
                <a:latin typeface="Calibri"/>
              </a:rPr>
              <a:t>защищено от внешней среды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0256" y="3200400"/>
            <a:ext cx="64008" cy="457200"/>
          </a:xfrm>
          <a:prstGeom prst="rect">
            <a:avLst/>
          </a:prstGeom>
          <a:solidFill>
            <a:srgbClr val="5FC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0" y="3703320"/>
            <a:ext cx="502920" cy="502920"/>
          </a:xfrm>
          <a:prstGeom prst="ellipse">
            <a:avLst/>
          </a:prstGeom>
          <a:solidFill>
            <a:srgbClr val="11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648456"/>
            <a:ext cx="4206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2E4F"/>
                </a:solidFill>
                <a:latin typeface="Calibri"/>
              </a:rPr>
              <a:t>Маленький червь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B"/>
                </a:solidFill>
                <a:latin typeface="Calibri"/>
              </a:rPr>
              <a:t>выходит из кокона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0256" y="4251960"/>
            <a:ext cx="64008" cy="457200"/>
          </a:xfrm>
          <a:prstGeom prst="rect">
            <a:avLst/>
          </a:prstGeom>
          <a:solidFill>
            <a:srgbClr val="5FC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4754880"/>
            <a:ext cx="502920" cy="502920"/>
          </a:xfrm>
          <a:prstGeom prst="ellipse">
            <a:avLst/>
          </a:prstGeom>
          <a:solidFill>
            <a:srgbClr val="179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4700016"/>
            <a:ext cx="4206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2E4F"/>
                </a:solidFill>
                <a:latin typeface="Calibri"/>
              </a:rPr>
              <a:t>Взрослая особь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B"/>
                </a:solidFill>
                <a:latin typeface="Calibri"/>
              </a:rPr>
              <a:t>похожа на родителя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Многощетинковые черви. Пиявки  •  8 класс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C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FC9A6"/>
                </a:solidFill>
                <a:latin typeface="Calibri"/>
              </a:rPr>
              <a:t>НАЙДИТЕ ОТЛИЧИЯ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Сравнение: полихеты и пиявки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881358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977639"/>
                <a:gridCol w="3977639"/>
              </a:tblGrid>
              <a:tr h="653142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Признак</a:t>
                      </a:r>
                    </a:p>
                  </a:txBody>
                  <a:tcPr marL="109728" marR="73152" marT="36576" marB="36576" anchor="ctr">
                    <a:solidFill>
                      <a:srgbClr val="0B2E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Многощетинковые черви</a:t>
                      </a:r>
                    </a:p>
                  </a:txBody>
                  <a:tcPr marL="109728" marR="73152" marT="36576" marB="36576" anchor="ctr">
                    <a:solidFill>
                      <a:srgbClr val="0B2E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Пиявки</a:t>
                      </a:r>
                    </a:p>
                  </a:txBody>
                  <a:tcPr marL="109728" marR="73152" marT="36576" marB="36576" anchor="ctr">
                    <a:solidFill>
                      <a:srgbClr val="0B2E4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B2E4F"/>
                          </a:solidFill>
                          <a:latin typeface="Calibri"/>
                        </a:rPr>
                        <a:t>Среда обитания</a:t>
                      </a:r>
                    </a:p>
                  </a:txBody>
                  <a:tcPr marL="109728" marR="73152" marT="36576" marB="36576" anchor="ctr">
                    <a:solidFill>
                      <a:srgbClr val="E9DFC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2B39"/>
                          </a:solidFill>
                          <a:latin typeface="Calibri"/>
                        </a:rPr>
                        <a:t>Моря (солёная вода), дно и толща</a:t>
                      </a:r>
                    </a:p>
                  </a:txBody>
                  <a:tcPr marL="109728" marR="73152" marT="36576" marB="36576" anchor="ctr">
                    <a:solidFill>
                      <a:srgbClr val="E4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2B39"/>
                          </a:solidFill>
                          <a:latin typeface="Calibri"/>
                        </a:rPr>
                        <a:t>Пресные водоёмы, реже почва и море</a:t>
                      </a:r>
                    </a:p>
                  </a:txBody>
                  <a:tcPr marL="109728" marR="73152" marT="36576" marB="36576" anchor="ctr">
                    <a:solidFill>
                      <a:srgbClr val="FAE6EA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B2E4F"/>
                          </a:solidFill>
                          <a:latin typeface="Calibri"/>
                        </a:rPr>
                        <a:t>Щетинки и параподии</a:t>
                      </a:r>
                    </a:p>
                  </a:txBody>
                  <a:tcPr marL="109728" marR="73152" marT="36576" marB="36576" anchor="ctr">
                    <a:solidFill>
                      <a:srgbClr val="E9DFC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2B39"/>
                          </a:solidFill>
                          <a:latin typeface="Calibri"/>
                        </a:rPr>
                        <a:t>Есть — пучки на каждом сегменте</a:t>
                      </a:r>
                    </a:p>
                  </a:txBody>
                  <a:tcPr marL="109728" marR="73152" marT="36576" marB="36576" anchor="ctr">
                    <a:solidFill>
                      <a:srgbClr val="E4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2B39"/>
                          </a:solidFill>
                          <a:latin typeface="Calibri"/>
                        </a:rPr>
                        <a:t>Отсутствуют</a:t>
                      </a:r>
                    </a:p>
                  </a:txBody>
                  <a:tcPr marL="109728" marR="73152" marT="36576" marB="36576" anchor="ctr">
                    <a:solidFill>
                      <a:srgbClr val="FAE6EA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B2E4F"/>
                          </a:solidFill>
                          <a:latin typeface="Calibri"/>
                        </a:rPr>
                        <a:t>Присоски</a:t>
                      </a:r>
                    </a:p>
                  </a:txBody>
                  <a:tcPr marL="109728" marR="73152" marT="36576" marB="36576" anchor="ctr">
                    <a:solidFill>
                      <a:srgbClr val="E9DFC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2B39"/>
                          </a:solidFill>
                          <a:latin typeface="Calibri"/>
                        </a:rPr>
                        <a:t>Нет</a:t>
                      </a:r>
                    </a:p>
                  </a:txBody>
                  <a:tcPr marL="109728" marR="73152" marT="36576" marB="36576" anchor="ctr">
                    <a:solidFill>
                      <a:srgbClr val="E4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2B39"/>
                          </a:solidFill>
                          <a:latin typeface="Calibri"/>
                        </a:rPr>
                        <a:t>Две: передняя и задняя</a:t>
                      </a:r>
                    </a:p>
                  </a:txBody>
                  <a:tcPr marL="109728" marR="73152" marT="36576" marB="36576" anchor="ctr">
                    <a:solidFill>
                      <a:srgbClr val="FAE6EA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B2E4F"/>
                          </a:solidFill>
                          <a:latin typeface="Calibri"/>
                        </a:rPr>
                        <a:t>Пол и размножение</a:t>
                      </a:r>
                    </a:p>
                  </a:txBody>
                  <a:tcPr marL="109728" marR="73152" marT="36576" marB="36576" anchor="ctr">
                    <a:solidFill>
                      <a:srgbClr val="E9DFC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2B39"/>
                          </a:solidFill>
                          <a:latin typeface="Calibri"/>
                        </a:rPr>
                        <a:t>Раздельнополые</a:t>
                      </a:r>
                    </a:p>
                  </a:txBody>
                  <a:tcPr marL="109728" marR="73152" marT="36576" marB="36576" anchor="ctr">
                    <a:solidFill>
                      <a:srgbClr val="E4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2B39"/>
                          </a:solidFill>
                          <a:latin typeface="Calibri"/>
                        </a:rPr>
                        <a:t>Гермафродиты</a:t>
                      </a:r>
                    </a:p>
                  </a:txBody>
                  <a:tcPr marL="109728" marR="73152" marT="36576" marB="36576" anchor="ctr">
                    <a:solidFill>
                      <a:srgbClr val="FAE6EA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B2E4F"/>
                          </a:solidFill>
                          <a:latin typeface="Calibri"/>
                        </a:rPr>
                        <a:t>Развитие</a:t>
                      </a:r>
                    </a:p>
                  </a:txBody>
                  <a:tcPr marL="109728" marR="73152" marT="36576" marB="36576" anchor="ctr">
                    <a:solidFill>
                      <a:srgbClr val="E9DFC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2B39"/>
                          </a:solidFill>
                          <a:latin typeface="Calibri"/>
                        </a:rPr>
                        <a:t>Непрямое — с личинкой</a:t>
                      </a:r>
                    </a:p>
                  </a:txBody>
                  <a:tcPr marL="109728" marR="73152" marT="36576" marB="36576" anchor="ctr">
                    <a:solidFill>
                      <a:srgbClr val="E4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2B39"/>
                          </a:solidFill>
                          <a:latin typeface="Calibri"/>
                        </a:rPr>
                        <a:t>Прямое — без личинки</a:t>
                      </a:r>
                    </a:p>
                  </a:txBody>
                  <a:tcPr marL="109728" marR="73152" marT="36576" marB="36576" anchor="ctr">
                    <a:solidFill>
                      <a:srgbClr val="FAE6EA"/>
                    </a:solidFill>
                  </a:tcPr>
                </a:tc>
              </a:tr>
              <a:tr h="65314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B2E4F"/>
                          </a:solidFill>
                          <a:latin typeface="Calibri"/>
                        </a:rPr>
                        <a:t>Особая черта</a:t>
                      </a:r>
                    </a:p>
                  </a:txBody>
                  <a:tcPr marL="109728" marR="73152" marT="36576" marB="36576" anchor="ctr">
                    <a:solidFill>
                      <a:srgbClr val="E9DFC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2B39"/>
                          </a:solidFill>
                          <a:latin typeface="Calibri"/>
                        </a:rPr>
                        <a:t>Параподии — «вёсла» и жабры</a:t>
                      </a:r>
                    </a:p>
                  </a:txBody>
                  <a:tcPr marL="109728" marR="73152" marT="36576" marB="36576" anchor="ctr">
                    <a:solidFill>
                      <a:srgbClr val="E4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2B39"/>
                          </a:solidFill>
                          <a:latin typeface="Calibri"/>
                        </a:rPr>
                        <a:t>Гирудин — против свёртывания крови</a:t>
                      </a:r>
                    </a:p>
                  </a:txBody>
                  <a:tcPr marL="109728" marR="73152" marT="36576" marB="36576" anchor="ctr">
                    <a:solidFill>
                      <a:srgbClr val="FAE6E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Многощетинковые черви. Пиявки  •  8 класс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79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FC9A6"/>
                </a:solidFill>
                <a:latin typeface="Calibri"/>
              </a:rPr>
              <a:t>УДИВИТЕЛЬНОЕ РЯДОМ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Интересные факты: полихеты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1325880"/>
          </a:xfrm>
          <a:prstGeom prst="roundRect">
            <a:avLst/>
          </a:prstGeom>
          <a:solidFill>
            <a:srgbClr val="E4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920240"/>
            <a:ext cx="548640" cy="548640"/>
          </a:xfrm>
          <a:prstGeom prst="ellipse">
            <a:avLst/>
          </a:prstGeom>
          <a:solidFill>
            <a:srgbClr val="179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700784"/>
            <a:ext cx="95097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79EA0"/>
                </a:solidFill>
                <a:latin typeface="Calibri"/>
              </a:rPr>
              <a:t>Морские гиганты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B39"/>
                </a:solidFill>
                <a:latin typeface="Calibri"/>
              </a:rPr>
              <a:t>Некоторые тропические многощетинковые черви достигают 3 метров в длину!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63240"/>
            <a:ext cx="10881360" cy="1325880"/>
          </a:xfrm>
          <a:prstGeom prst="roundRect">
            <a:avLst/>
          </a:prstGeom>
          <a:solidFill>
            <a:srgbClr val="E4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429000"/>
            <a:ext cx="548640" cy="548640"/>
          </a:xfrm>
          <a:prstGeom prst="ellipse">
            <a:avLst/>
          </a:prstGeom>
          <a:solidFill>
            <a:srgbClr val="11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3209544"/>
            <a:ext cx="95097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15A8C"/>
                </a:solidFill>
                <a:latin typeface="Calibri"/>
              </a:rPr>
              <a:t>Оптические волокна природы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B39"/>
                </a:solidFill>
                <a:latin typeface="Calibri"/>
              </a:rPr>
              <a:t>Червь «морская мышь» покрыт переливающимися щетинками: они как природные оптоволокна отражают свет и меняют цвет от синего до золотого, отпугивая хищников.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572000"/>
            <a:ext cx="10881360" cy="1325880"/>
          </a:xfrm>
          <a:prstGeom prst="roundRect">
            <a:avLst/>
          </a:prstGeom>
          <a:solidFill>
            <a:srgbClr val="E4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4937760"/>
            <a:ext cx="548640" cy="548640"/>
          </a:xfrm>
          <a:prstGeom prst="ellipse">
            <a:avLst/>
          </a:prstGeom>
          <a:solidFill>
            <a:srgbClr val="5FC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4718304"/>
            <a:ext cx="95097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5FC9A6"/>
                </a:solidFill>
                <a:latin typeface="Calibri"/>
              </a:rPr>
              <a:t>Светящиеся черви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B39"/>
                </a:solidFill>
                <a:latin typeface="Calibri"/>
              </a:rPr>
              <a:t>Многие глубоководные полихеты обладают биолюминесценцией: при опасности они «отстреливают» светящиеся части тела, чтобы ослепить врага.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Многощетинковые черви. Пиявки  •  8 класс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FC9A6"/>
                </a:solidFill>
                <a:latin typeface="Calibri"/>
              </a:rPr>
              <a:t>НЕ ВСЁ ТАК ОЧЕВИДНО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Интересные факты: пиявки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1325880"/>
          </a:xfrm>
          <a:prstGeom prst="roundRect">
            <a:avLst/>
          </a:prstGeom>
          <a:solidFill>
            <a:srgbClr val="FA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920240"/>
            <a:ext cx="548640" cy="548640"/>
          </a:xfrm>
          <a:prstGeom prst="ellipse">
            <a:avLst/>
          </a:prstGeom>
          <a:solidFill>
            <a:srgbClr val="C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700784"/>
            <a:ext cx="95097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C03A5B"/>
                </a:solidFill>
                <a:latin typeface="Calibri"/>
              </a:rPr>
              <a:t>Не все пьют кровь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B39"/>
                </a:solidFill>
                <a:latin typeface="Calibri"/>
              </a:rPr>
              <a:t>Далеко не все пиявки — паразиты. Многие из них активные хищники: охотятся на улиток, личинок насекомых и других червей, заглатывая добычу целиком.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63240"/>
            <a:ext cx="10881360" cy="1325880"/>
          </a:xfrm>
          <a:prstGeom prst="roundRect">
            <a:avLst/>
          </a:prstGeom>
          <a:solidFill>
            <a:srgbClr val="FA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429000"/>
            <a:ext cx="548640" cy="548640"/>
          </a:xfrm>
          <a:prstGeom prst="ellipse">
            <a:avLst/>
          </a:prstGeom>
          <a:solidFill>
            <a:srgbClr val="A8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3209544"/>
            <a:ext cx="95097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A82C4A"/>
                </a:solidFill>
                <a:latin typeface="Calibri"/>
              </a:rPr>
              <a:t>Рекордсмены по обжорству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B39"/>
                </a:solidFill>
                <a:latin typeface="Calibri"/>
              </a:rPr>
              <a:t>Медицинская пиявка может выпить крови в 5–10 раз больше собственного веса, а затем переваривать её и не питаться несколько месяцев.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572000"/>
            <a:ext cx="10881360" cy="1325880"/>
          </a:xfrm>
          <a:prstGeom prst="roundRect">
            <a:avLst/>
          </a:prstGeom>
          <a:solidFill>
            <a:srgbClr val="FA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4937760"/>
            <a:ext cx="548640" cy="548640"/>
          </a:xfrm>
          <a:prstGeom prst="ellipse">
            <a:avLst/>
          </a:prstGeom>
          <a:solidFill>
            <a:srgbClr val="E8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4718304"/>
            <a:ext cx="95097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E8A83A"/>
                </a:solidFill>
                <a:latin typeface="Calibri"/>
              </a:rPr>
              <a:t>Живые индикаторы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B39"/>
                </a:solidFill>
                <a:latin typeface="Calibri"/>
              </a:rPr>
              <a:t>Медицинская пиявка занесена в Красную книгу. Она очень чувствительна к загрязнению: если в водоёме живут пиявки — вода там относительно чистая.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Многощетинковые черви. Пиявки  •  8 класс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