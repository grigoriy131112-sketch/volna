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Приветствие. Сегодня тема «Многощетинковые черви. Пиявки» — это два класса типа Кольчатые черви. Напомните, что дождевой червь — тоже кольчец, с ним будем сравнивать.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Проговорите план урока. Спросите: кто уже слышал про пиявок? Где их видели?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полихеты — почти исключительно морские животные. Сравните с дождевым червём, который живёт в почве. Спросите, почему в море нужно уметь плавать и ориентироваться.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Разберите три отдела тела и главное — параподии. Подчеркните двойную функцию: движение («вёсла») и дыхание («жабры»). Покажите на схеме. Вопрос: почему у дождевого червя нет параподий?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Акцент: полихеты раздельнополые, оплодотворение наружное, развитие непрямое — есть личинка, не похожая на взрослого. Это важное отличие от дождевого червя.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к пиявкам. Спросите: пиявка — это паразит? Разрушьте стереотип: многие пиявки — хищники.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Разберите две присоски и способ движения «шагами»: цепляется задней, тянется вперёд, крепится передней. Спросите, почему одной присоски, как у осьминога, было бы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гирудин простыми словами: вещество, которое не даёт крови сворачиваться. Свяжите с медициной (гирудотерапия). Можно спросить: почему сама пиявка не истекает кровью? У неё своя независимая система свёртывания.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Сравните с полихетами: пиявки — гермафродиты, развитие прямое. Вспомните дождевого червя.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Дайте классу 1–2 минуты: пусть сами найдут отличия по таблице, затем проговорите вместе.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 про полихет. Дайте паузу после каждого — пусть удивятся. Спросите, какой факт запомнился.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 про пиявок. Обязательно про Красную книгу и чистоту воды — экологический акцент. На этом слайде завершаем 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82296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163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320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9475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84632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978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944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099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5255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10411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56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23444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5FC9A6"/>
                </a:solidFill>
                <a:latin typeface="Calibri"/>
              </a:rPr>
              <a:t>УРОК БИОЛОГИИ  •  8 КЛАСС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Многощетинковые черви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5200" b="1" i="0">
                <a:solidFill>
                  <a:srgbClr val="179EA0"/>
                </a:solidFill>
                <a:latin typeface="Calibri"/>
              </a:rPr>
              <a:t>Пиявки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9DDE8"/>
                </a:solidFill>
                <a:latin typeface="Calibri"/>
              </a:rPr>
              <a:t>Строение, среда обитания, размножение и роль в природе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Тип Кольчатые черви  (Annelida)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EC9D8"/>
                </a:solidFill>
                <a:latin typeface="Calibri"/>
              </a:rPr>
              <a:t>Классы: Многощетинковые (Polychaeta) и Поясковые (Clitellata — пиявки)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СЕГОДНЯ РАЗБЕРЁМ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План урока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508760"/>
            <a:ext cx="548640" cy="54864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6304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Многощетинковые черви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Среда обитания и внешнее строение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8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Параподии — «вёсла» и «жабры»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Как полихеты двигаются и дышат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063240"/>
            <a:ext cx="548640" cy="54864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1752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Размножение полихет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Раздельнополые, развитие с личинкой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840480"/>
            <a:ext cx="548640" cy="548640"/>
          </a:xfrm>
          <a:prstGeom prst="ellipse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79476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Пиявки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Среда обитания, присоски, гирудин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617720"/>
            <a:ext cx="548640" cy="548640"/>
          </a:xfrm>
          <a:prstGeom prst="ellipse">
            <a:avLst/>
          </a:prstGeom>
          <a:solidFill>
            <a:srgbClr val="A8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57200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Размножение пиявок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Гермафродиты, прямое развитие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394960"/>
            <a:ext cx="548640" cy="548640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34924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Сравнение и выводы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Черви, интересные факты о полихетах и пиявках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КЛАСС POLYCHAETA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Многощетинковые черви: где живут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79EA0"/>
                </a:solidFill>
                <a:latin typeface="Calibri"/>
              </a:rPr>
              <a:t>Среда обитания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Преимущественно морские воды — солёная среда.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Живут на дне (бентос) или в толще воды (планктон).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Встречаются от прибрежного мелководья до глубин океана.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Прячутся в грунте, норках, трубках или среди рифов.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Почему именно море?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Солёная вода поддерживает тело и помогает плавать.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Обилие пищи: планктон, органические остатки на дне.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Разнообразие «профессий»: ползающие, плавающие, сидячие формы.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Именно полихеты — самые древние и многочисленные кольчецы.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ГЛАВНАЯ «ФИШКА» — ПАРАПОДИИ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Внешнее строение полихеты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577840" cy="109728"/>
          </a:xfrm>
          <a:prstGeom prst="rect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Отделы тела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Головная лопасть — глаза и щупальца для ориентации.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Туловище — множество сегментов (кольцев).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Анальная лопасть — завершает тело.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57784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57784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Параподии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Боковые выросты на каждом сегменте с пучками щетинок.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Работают как «вёсла» — помогают двигаться.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Работают как жабры — участвуют в дыхании.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Именно по ним класс получил название «многощетинковые».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Схема тела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3154680"/>
            <a:ext cx="4572000" cy="822960"/>
          </a:xfrm>
          <a:prstGeom prst="round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29400" y="3108960"/>
            <a:ext cx="685800" cy="9144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090672"/>
            <a:ext cx="457200" cy="950976"/>
          </a:xfrm>
          <a:prstGeom prst="rect">
            <a:avLst/>
          </a:prstGeom>
          <a:solidFill>
            <a:srgbClr val="0E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25512" y="2788920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25512" y="4041648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3090672"/>
            <a:ext cx="457200" cy="950976"/>
          </a:xfrm>
          <a:prstGeom prst="rect">
            <a:avLst/>
          </a:prstGeom>
          <a:solidFill>
            <a:srgbClr val="0E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65592" y="2788920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65592" y="4041648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3090672"/>
            <a:ext cx="457200" cy="950976"/>
          </a:xfrm>
          <a:prstGeom prst="rect">
            <a:avLst/>
          </a:prstGeom>
          <a:solidFill>
            <a:srgbClr val="0E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05672" y="2788920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05672" y="4041648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72600" y="3090672"/>
            <a:ext cx="457200" cy="950976"/>
          </a:xfrm>
          <a:prstGeom prst="rect">
            <a:avLst/>
          </a:prstGeom>
          <a:solidFill>
            <a:srgbClr val="0E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45752" y="2788920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45752" y="4041648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12680" y="3090672"/>
            <a:ext cx="457200" cy="950976"/>
          </a:xfrm>
          <a:prstGeom prst="rect">
            <a:avLst/>
          </a:prstGeom>
          <a:solidFill>
            <a:srgbClr val="0E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85832" y="2788920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85832" y="4041648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652760" y="3090672"/>
            <a:ext cx="457200" cy="950976"/>
          </a:xfrm>
          <a:prstGeom prst="rect">
            <a:avLst/>
          </a:prstGeom>
          <a:solidFill>
            <a:srgbClr val="0E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25912" y="2788920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25912" y="4041648"/>
            <a:ext cx="310896" cy="292608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45720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FE3EE"/>
                </a:solidFill>
                <a:latin typeface="Calibri"/>
              </a:rPr>
              <a:t>Головная лопасть — глаза, щупальца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83A"/>
                </a:solidFill>
                <a:latin typeface="Calibri"/>
              </a:rPr>
              <a:t>Жёлтые выросты — параподии со щетинками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FE3EE"/>
                </a:solidFill>
                <a:latin typeface="Calibri"/>
              </a:rPr>
              <a:t>Сегментированное туловище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НЕПРЯМОЕ РАЗВИТИЕ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Размножение полихет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21208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7548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Особенности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Раздельнополые животные (есть самцы и самки).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Половые клетки выметываются прямо в воду.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Оплодотворение наружное — в морской воде.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Развитие непрямое: есть стадия личинки.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448056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Путь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51460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5973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Яйцо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 воде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0256" y="306324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338328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32841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Личинка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плавает, не похожа на взрослого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393192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425196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9709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Молодой червь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оседает на дно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0256" y="480060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06577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Взрослая особь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растёт и сегментируется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КЛАСС ПОЯСКОВЫЕ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Пиявки: где живут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03A5B"/>
                </a:solidFill>
                <a:latin typeface="Calibri"/>
              </a:rPr>
              <a:t>Среда обитания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В основном пресные водоёмы: реки, озёра, пруды.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Некоторые виды — во влажной почве тропиков.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Есть и морские формы.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Предпочитают чистую воду, богатую кислородом.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4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2B8C6"/>
                </a:solidFill>
                <a:latin typeface="Calibri"/>
              </a:rPr>
              <a:t>Важно понимать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Пиявки — не только паразиты: многие ведут хищный образ жизни.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Они дышат всей поверхностью тела — жабр нет.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Тело уплощённое и очень гибкое — удобно прятаться.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Живут в воде, но могут подолгу обходиться без неё.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ДВЕ ПРИСОСКИ — ДВЕ ТОЧКИ ОПОРЫ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Внешнее строение пиявки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57784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Тело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Уплощённое, сегментированное.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Без щетинок и без параподий — не как у полихет.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Очень эластичное и растяжимое.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57784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57784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Присоски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Передняя — с ротовым отверстием и хитиновыми зубчиками.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Задняя — для прочного прикрепления к жертве или дну.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Позволяют передвигаться «шагами» и удерживаться.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480560"/>
          </a:xfrm>
          <a:prstGeom prst="roundRect">
            <a:avLst/>
          </a:prstGeom>
          <a:solidFill>
            <a:srgbClr val="4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B8C6"/>
                </a:solidFill>
                <a:latin typeface="Calibri"/>
              </a:rPr>
              <a:t>Движение «шагами»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68880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1. Прикрепляется задней присоской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2. Вытягивает тело вперёд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3. Цепляется передней присоской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4. Подтягивает заднюю — шаг готов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00" b="0" i="1">
                <a:solidFill>
                  <a:srgbClr val="E8B0C0"/>
                </a:solidFill>
                <a:latin typeface="Calibri"/>
              </a:rPr>
              <a:t>Две присоски дают две точки опоры — одна, как у осьминога, не позволила бы так двигаться.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СЕКРЕТ СЛЮННЫХ ЖЕЛЕЗ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Внутреннее строение и гирудин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Полость тела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Вторичная полость (целом) сильно заросла соединительной тканью.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Остались лишь небольшие каналы.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Такое строение делает тело плотным и гибким.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48640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0292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Гирудин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Вырабатывается в слюнных железах.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Препятствует свёртыванию крови жертвы.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Кровь течёт свободно, пока пиявка питается.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Медицинское значение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Гирудотерапия — лечение с помощью пиявок.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Применяется после сложных пластических операций.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Гирудин не даёт крови сворачиваться в месте шва.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Это предотвращает тромбы, снимает отёк и улучшает питание тканей.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ПРЯМОЕ РАЗВИТИЕ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Размножение пиявок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21208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7548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Особенности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Гермафродиты — как дождевые черви.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Оплодотворение перекрёстное.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Яйца откладываются в кокон.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Развитие прямое — без личинки.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448056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Путь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65176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9689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Яйцо в коконе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защищено от внешней среды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0256" y="3200400"/>
            <a:ext cx="64008" cy="45720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370332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64845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Маленький червь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выходит из кокона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4251960"/>
            <a:ext cx="64008" cy="45720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475488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70001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Взрослая особь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похожа на родителя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НАЙДИТЕ ОТЛИЧИЯ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Сравнение: полихеты и пиявки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77639"/>
                <a:gridCol w="3977639"/>
              </a:tblGrid>
              <a:tr h="65314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Многощетинковые черви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Пиявки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Среда обитания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Моря (солёная вода), дно и толща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Пресные водоёмы, реже почва и море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Щетинки и параподии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Есть — пучки на каждом сегменте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Отсутствуют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Присоски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Две: передняя и задняя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Пол и размножение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Раздельнополые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Гермафродиты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Развитие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Непрямое — с личинкой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Прямое — без личинки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Особая черта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Параподии — «вёсла» и жабры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Гирудин — против свёртывания крови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УДИВИТЕЛЬНОЕ РЯДОМ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Интересные факты: полихеты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70078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Морские гиганты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Некоторые тропические многощетинковые черви достигают 3 метров в длину!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20954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Оптические волокна природы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Червь «морская мышь» покрыт переливающимися щетинками: они как природные оптоволокна отражают свет и меняют цвет от синего до золотого, отпугивая хищников.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71830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Светящиеся черви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Многие глубоководные полихеты обладают биолюминесценцией: при опасности они «отстреливают» светящиеся части тела, чтобы ослепить врага.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НЕ ВСЁ ТАК ОЧЕВИДНО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Интересные факты: пиявки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70078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Не все пьют кровь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Далеко не все пиявки — паразиты. Многие из них активные хищники: охотятся на улиток, личинок насекомых и других червей, заглатывая добычу целиком.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A8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20954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A82C4A"/>
                </a:solidFill>
                <a:latin typeface="Calibri"/>
              </a:rPr>
              <a:t>Рекордсмены по обжорству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Медицинская пиявка может выпить крови в 5–10 раз больше собственного веса, а затем переваривать её и не питаться несколько месяцев.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71830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8A83A"/>
                </a:solidFill>
                <a:latin typeface="Calibri"/>
              </a:rPr>
              <a:t>Живые индикаторы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Медицинская пиявка занесена в Красную книгу. Она очень чувствительна к загрязнению: если в водоёме живут пиявки — вода там относительно чистая.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